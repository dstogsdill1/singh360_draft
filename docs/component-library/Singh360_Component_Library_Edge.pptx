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55448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29.png"/><Relationship Id="rId14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5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Alarms Safety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generic-alarm-strobe|VARIANT=edge" descr="generic-alarm-strobe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701" y="1245869"/>
            <a:ext cx="1257300" cy="1257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Alarm Strobe Horn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Blue Refrigerant Leak Horn/Strobe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Door Annunciator /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360_COMPONENT_ID=alarm_door_open_da|VARIANT=edge" descr="alarm_door_open_da__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2398" y="1245869"/>
            <a:ext cx="1257300" cy="1257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Door Open Horn/Strobe DA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Alarm EA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S360/EA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Alarm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S360/EA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Light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54161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Switch Box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5320-0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Entrapment Switch ES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5320-0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Horn Silencer Button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56PB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Leak Annunciator /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S360/LI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Magnetic Door Contact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VIP100-69L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Red Alarm Strobe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CS-24WRW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Red Entrapment Horn/Strobe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Yellow Door Open Horn/Strobe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Controllers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controllers_c2d84cf54c|VARIANT=edge" descr="Mercu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74494"/>
            <a:ext cx="1143000" cy="40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-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rdm-mercury|VARIANT=edge" descr="rdm-mercury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083" y="1674494"/>
            <a:ext cx="1143000" cy="4000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Mercury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360_COMPONENT_ID=rdm_mercury_switch|VARIANT=edge" descr="rdm_mercury_switch__lin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0316" y="1674494"/>
            <a:ext cx="1143000" cy="4000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Mercury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Mini TDB -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360_COMPONENT_ID=rdm_orbit_touchxl_console|VARIANT=edge" descr="rdm_orbit_touchxl_console__e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98780" y="1674494"/>
            <a:ext cx="1143000" cy="4000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Orbit Touchxl Console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PR0617-OB-E-BK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Pr0652-cct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PR0652-CCT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Top Row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S360_COMPONENT_ID=rdm-pr0680|VARIANT=edge" descr="rdm-pr0680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316" y="4737735"/>
            <a:ext cx="1143000" cy="4000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PR0680 TDB Touchscreen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PR0685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Pr0685-3ec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PR0685-3EC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PR0740 Case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PR0740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PR0751 Evaporator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PR0751-IP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Pr0751-ip EEV Evaporator Controller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PR0751-IP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S360_COMPONENT_ID=controllers_15376f3636|VARIANT=edge" descr="Intuit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99548" y="7800975"/>
            <a:ext cx="1143000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652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S360_COMPONENT_ID=controllers_bf6e23224a|VARIANT=edge" descr="RDM's Bluetoot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98780" y="7800975"/>
            <a:ext cx="1143000" cy="40005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RDM's Bluetooth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Controllers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TDB -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360_COMPONENT_ID=rdm-touchxl|VARIANT=edge" descr="rdm-touchxl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83" y="1674494"/>
            <a:ext cx="1143000" cy="4000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Touchxl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TouchXL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Custom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dent_powerscout_ps12|VARIANT=edge" descr="dent_powerscout_ps12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227" y="1436370"/>
            <a:ext cx="1238250" cy="8763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DENT PowerScout PS12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PS12HD-C-D-N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dent_powerscout_ps24|VARIANT=edge" descr="dent_powerscout_ps24__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3458" y="1436370"/>
            <a:ext cx="1238250" cy="876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DENT PowerScout PS24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PS24HD-C-D-N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360_COMPONENT_ID=dent_powerscout_ps3|VARIANT=edge" descr="dent_powerscout_ps3__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2690" y="1436370"/>
            <a:ext cx="1238250" cy="876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DENT PowerScout PS3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PS3HD-C-D-N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360_COMPONENT_ID=dent_powerscout_ps48|VARIANT=edge" descr="dent_powerscout_ps48__ed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1923" y="1436370"/>
            <a:ext cx="1238250" cy="8763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DENT PowerScout PS48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PS48HD-C-D-N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DS Door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ET Entrapment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LLSV Liquid Line Solenoid Valve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LLSV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S360_COMPONENT_ID=rdm_rdm_bluetooth|VARIANT=edge" descr="rdm_rdm_bluetooth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316" y="4737735"/>
            <a:ext cx="1143000" cy="4000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Bluetooth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Rogowski Coil CT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CT-R36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Split Core CT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CT-SMC/HMC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Electrical Power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1-Pole Lighting Contactor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1-pole Power Contactor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1P Contactor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2-Pole Lighting Contactor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2-pole Power Contactor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2P Contactor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24VDC Power Supply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APV-25-24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3-pole Power Contactor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3P Contactor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Electrical Generator Monitor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Generator Monitor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Generator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360_COMPONENT_ID=electrical_contactor_3_pole|VARIANT=edge" descr="electrical_contactor_3_pole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2892" y="4313682"/>
            <a:ext cx="2496311" cy="124815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Generic Contactor 3-pole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360_COMPONENT_ID=cd_controls_isolation_amplifier|VARIANT=edge" descr="cd_controls_isolation_amplifier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2124" y="4313682"/>
            <a:ext cx="2496311" cy="12481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Isolation Amplifier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100-4004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Lighting Contactor Bank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Terminal Block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UPS / Backup Power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Expansion Modules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dm_pr0653_top_row_connections|VARIANT=edge" descr="rdm_pr0653_top_row_connections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001" y="1684020"/>
            <a:ext cx="10287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PR0653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PR0653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PR0656 Expansion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PR0656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S360_COMPONENT_ID=rdm_pr0660_bottom_row_connections|VARIANT=edge" descr="rdm_pr0660_bottom_row_connections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466" y="1684020"/>
            <a:ext cx="1028700" cy="381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360_COMPONENT_ID=rdm_pr0660_stepper_expansion_module|VARIANT=edge" descr="rdm_pr0660_stepper_expansion_module__e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6698" y="1684020"/>
            <a:ext cx="1028700" cy="381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Stepper Expansion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S360_COMPONENT_ID=rdm_pr0660_top_row_connections|VARIANT=edge" descr="rdm_pr0660_top_row_connections__lin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55930" y="1684020"/>
            <a:ext cx="1028700" cy="381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PR0660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S360_COMPONENT_ID=rdm_pr0661_bottom_row_connections|VARIANT=edge" descr="rdm_pr0661_bottom_row_connections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9001" y="4747260"/>
            <a:ext cx="1028700" cy="381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S360_COMPONENT_ID=rdm_pr0661_io_expansion_module|VARIANT=edge" descr="rdm_pr0661_io_expansion_module__ed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58233" y="4747260"/>
            <a:ext cx="1028700" cy="381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I/O Expansion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S360_COMPONENT_ID=rdm_pr0661_io_expansion|VARIANT=edge" descr="rdm_pr0661_io_expansion__line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57466" y="4747260"/>
            <a:ext cx="1028700" cy="381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IO Expansion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S360_COMPONENT_ID=rdm_pr0661_top_row_connections|VARIANT=edge" descr="rdm_pr0661_top_row_connections__lin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56698" y="4747260"/>
            <a:ext cx="1028700" cy="381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PR0661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S360_COMPONENT_ID=rdm_pr0662_connections|VARIANT=edge" descr="rdm_pr0662_connections__line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55930" y="4747260"/>
            <a:ext cx="1028700" cy="3810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PR0662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S360_COMPONENT_ID=rdm_pr0663_4_4_bottom_row_connections|VARIANT=edge" descr="rdm_pr0663_4_4_bottom_row_connections__linear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9001" y="7810500"/>
            <a:ext cx="1028700" cy="3810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4-4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S360_COMPONENT_ID=rdm_pr0663_4_4_top_row_connections|VARIANT=edge" descr="rdm_pr0663_4_4_top_row_connections__linear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58233" y="7810500"/>
            <a:ext cx="1028700" cy="3810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4-4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S360_COMPONENT_ID=rdm_pr0663_bottom_row_connections|VARIANT=edge" descr="rdm_pr0663_bottom_row_connections__linear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7466" y="7810500"/>
            <a:ext cx="1028700" cy="3810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Bottom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Expansion I/O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S360_COMPONENT_ID=rdm_pr0663_mini_io_expansion|VARIANT=edge" descr="rdm_pr0663_mini_io_expansion__ed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155930" y="7810500"/>
            <a:ext cx="1028700" cy="381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Mini I/O Expansion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Expansion Modules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dm_pr0663_top_row_connections|VARIANT=edge" descr="rdm_pr0663_top_row_connections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001" y="1684020"/>
            <a:ext cx="1028700" cy="381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PR0663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PR0663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rdm_pr0681_mini_io_expansion|VARIANT=edge" descr="rdm_pr0681_mini_io_expansion__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233" y="1684020"/>
            <a:ext cx="10287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PR0681 Mini I/O Expansion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360_COMPONENT_ID=rdm_pr0681_top_bottom_connections|VARIANT=edge" descr="rdm_pr0681_top_bottom_connections__lin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7466" y="1684020"/>
            <a:ext cx="10287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PR0681 Top Bottom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360_COMPONENT_ID=rdm_pr0681_top_row_connections|VARIANT=edge" descr="rdm_pr0681_top_row_connections__lin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6698" y="1684020"/>
            <a:ext cx="1028700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PR0681 Top Row Connections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PR0681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Hvac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Bacnet PACU/OAU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S360_COMPONENT_ID=generic_condenser|VARIANT=edge" descr="generic_condenser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83" y="1569720"/>
            <a:ext cx="1143000" cy="609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Condenser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Condenser Fan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360_COMPONENT_ID=generic_condensing_unit|VARIANT=edge" descr="generic_condensing_unit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9548" y="1569720"/>
            <a:ext cx="1143000" cy="609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Condensing Unit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360_COMPONENT_ID=hvac_fa4b6c660e|VARIANT=edge" descr="F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98780" y="1569720"/>
            <a:ext cx="1143000" cy="609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Fans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360_COMPONENT_ID=hvac_b599ad8242|VARIANT=edge" descr="humidist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1851" y="4632960"/>
            <a:ext cx="1143000" cy="609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Humidistat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360_COMPONENT_ID=generic_mau|VARIANT=edge" descr="generic_mau__line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1083" y="4632960"/>
            <a:ext cx="1143000" cy="6096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MAU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360_COMPONENT_ID=hvac_c767ec30e7|VARIANT=edge" descr="generic_pacu_munters_dehumid__lin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0316" y="4632960"/>
            <a:ext cx="1143000" cy="609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Munters Dehumid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OAU Outside Air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OAU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OAU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OAU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S360_COMPONENT_ID=hvac_46f8be2deb|VARIANT=edge" descr="generic_pacu_main__line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851" y="7696200"/>
            <a:ext cx="1143000" cy="609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 Rooftop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PACU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S360_COMPONENT_ID=generic_pacu_rtu_york|VARIANT=edge" descr="generic_pacu_rtu_york__linea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00316" y="7696200"/>
            <a:ext cx="1143000" cy="609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 RTU York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PACU Unit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PACU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S360_COMPONENT_ID=generic_rack_rtu|VARIANT=edge" descr="generic_rack_rtu__line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98780" y="7696200"/>
            <a:ext cx="1143000" cy="6096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Rack RTU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Hvac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hvac_f49879e234|VARIANT=edge" descr="thermo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569720"/>
            <a:ext cx="1143000" cy="60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Thermometer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Lighting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lighting_dimming_module|VARIANT=edge" descr="lighting_dimming_module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001" y="1664970"/>
            <a:ext cx="1028700" cy="4191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Dimming Module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100-4004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LCP1 Lighting Controls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Logos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heb_logo|VARIANT=edge" descr="he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976" y="1579245"/>
            <a:ext cx="1428750" cy="5905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H-E-B Logo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rdm_rdm_logo|VARIANT=edge" descr="rdm_rdm_logo__high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5834" y="1588769"/>
            <a:ext cx="1333500" cy="571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Logo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360_COMPONENT_ID=rdm_logo|VARIANT=edge" descr="rdm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7441" y="1579245"/>
            <a:ext cx="1428750" cy="590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Logo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360_COMPONENT_ID=singh360_logo|VARIANT=edge" descr="singh360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6673" y="1579245"/>
            <a:ext cx="1428750" cy="5905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Singh360 Logo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360_COMPONENT_ID=logos_672af5074f|VARIANT=edge" descr="Singhg360_Log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3530" y="1588769"/>
            <a:ext cx="1333500" cy="571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Singhg360 Logo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Network Data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48-port RDM IDF Switch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48-port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Bacnet Router Basrt-b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BASRT-B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360_COMPONENT_ID=refrigeration_edc036b96c|VARIANT=edge" descr="refrigeration-edc036b96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316" y="1607820"/>
            <a:ext cx="11430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Data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DM Data Manager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S360_COMPONENT_ID=generic_idf|VARIANT=edge" descr="generic_idf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1630" y="1684020"/>
            <a:ext cx="1257300" cy="381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IDF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360_COMPONENT_ID=generic_mdf|VARIANT=edge" descr="generic_mdf__line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701" y="4747260"/>
            <a:ext cx="1257300" cy="381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 / IDF Rack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MDF/IDF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 Rack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Orbit TouchXL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PR0617-OB-E-BK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S360_COMPONENT_ID=rdm-data-manager|VARIANT=edge" descr="rdm-data-manager__lin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41630" y="4747260"/>
            <a:ext cx="1257300" cy="381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PRO Pack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Data Manager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Data Manager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PR0510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48-port Switch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Switch Stack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IDF Stack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Panels Enclosures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CCP Case Control Panel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CCP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Enclosure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Lighting Control Panel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PCP Pharmacy Control Panel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PCP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WICP Enclosure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WICP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Refrigeration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Anti-Sweat / Trim Heater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CO2 Refrigeration Rack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360_COMPONENT_ID=generic_coldroom|VARIANT=edge" descr="generic_coldroom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316" y="1607820"/>
            <a:ext cx="1143000" cy="53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Coldroom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Compressor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EEPR Electronic Evaporator Pressure Regulator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EEV Electronic Expansion Valve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EPR Mechanical Evaporator Pressure Regulator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Evaporator Coil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Evaporator Fan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360_COMPONENT_ID=generic_glycol_pump_skid|VARIANT=edge" descr="generic_glycol_pump_skid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98780" y="4671060"/>
            <a:ext cx="1143000" cy="5334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Glycol Pump Skid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Valve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LLV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— Closed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— Open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S360_COMPONENT_ID=refrigeration_e568bd2258|VARIANT=edge" descr="Mercury 2_e7ca47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9548" y="7734300"/>
            <a:ext cx="1143000" cy="5334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Mercury 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S360_COMPONENT_ID=refrigeration_357aa1d210|VARIANT=edge" descr="PR0282 Pack_f54216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98780" y="7734300"/>
            <a:ext cx="1143000" cy="5334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PR0282 Pack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Refrigeration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S360_COMPONENT_ID=refrigeration_59037723d5|VARIANT=edge" descr="PR0710 Mercury mk2 _eab7d1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07820"/>
            <a:ext cx="1143000" cy="533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PR0710 Mercury Mk2</a:t>
            </a:r>
          </a:p>
        </p:txBody>
      </p:sp>
      <p:sp>
        <p:nvSpPr>
          <p:cNvPr id="7" name="Rectangle 6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S360_COMPONENT_ID=generic_rack_zero_zone|VARIANT=edge" descr="generic_rack_zero_zone__line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083" y="1607820"/>
            <a:ext cx="1143000" cy="53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Rack Zero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 RA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 RB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Refrigeration Rack RC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Sensors Transducers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10K Temperature Probe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PR0250-P4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10K2 Temperature Probe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10K2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Clean Switch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CO2 Leak Transducer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CT1O-A3D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Defrost Termination Sensor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HFC Leak Transducer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REF-LK-832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360_COMPONENT_ID=sensor_hfc_leak_ls|VARIANT=edge" descr="sensor_hfc_leak_ls__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1083" y="4366260"/>
            <a:ext cx="1143000" cy="114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HFC Refrigerant Leak Sensor LS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REF-LK-832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Indoor Temp / RH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A/RH3-CP-R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Light Level / OAT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PR0198-10K2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Pressure Transducer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Temp / RH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A/RH3-CP-R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Zone Temperature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A/CP-R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1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10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11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12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2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3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4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5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6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7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8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Callout Number 9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DA Door Open Horn/Strobe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Dimming Zone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DZ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S360_COMPONENT_ID=generic-din-rail|VARIANT=edge" descr="generic-din-rail__lin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13105" y="7743825"/>
            <a:ext cx="514350" cy="5143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DIN Rail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DS Defrost Sensor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DTS Dual Temperature Switch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EA Entrapment Horn/Strobe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Electric Defrost Marker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ES Entrapment Switch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HELP TRAPPED / PERSONA ATRAPADA Sign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HELP TRAPPED Symbol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HELP TRAPPED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HS Horn Silencer Button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IDF Network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IDF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LCP Panel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LCP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 Leak Indicator Horn/Strobe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Liquid Line Solenoid Marker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LS Leak Sensor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LT Light Level / OAT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LT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MDF Server Rack Marker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OAT Outdoor Air Temp Sensor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OAT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27832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55848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Person Trapped Inside Sign Symbol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PM Power Monitor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PM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6296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54312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eepr electronic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5528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53544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eepr mechanical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RDM IDF Marker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- Safety / Trapped / Leak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Signage Legend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79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Safety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26296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360_COMPONENT_ID=signage_safety_51011bbb37|VARIANT=edge" descr="signage_legend_safety_trapped_leak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2798" y="4080510"/>
            <a:ext cx="2476500" cy="1714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54312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Safety Trapped Leak Help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225528" y="365760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53544" y="5971031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Signage Legend Strip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Signage Legend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Sym Pm Power Monitor Marker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27832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5848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Sym T Temp Input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27064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79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 Temperature Input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26296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54312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TS Temperature Sensor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225528" y="672084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53544" y="903427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When Lit Refrigerant Leak — Do Not Enter Sign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0" cy="457200"/>
          </a:xfrm>
          <a:prstGeom prst="rect">
            <a:avLst/>
          </a:prstGeom>
          <a:solidFill>
            <a:srgbClr val="0C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499615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Symbols Markers — Edge Components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594360"/>
            <a:ext cx="2889503" cy="2935224"/>
          </a:xfrm>
          <a:prstGeom prst="rect">
            <a:avLst/>
          </a:prstGeom>
          <a:solidFill>
            <a:srgbClr val="FAFBFD"/>
          </a:solidFill>
          <a:ln w="8890">
            <a:solidFill>
              <a:srgbClr val="D7D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6616" y="2907792"/>
            <a:ext cx="263347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latin typeface="Arial"/>
              </a:defRPr>
            </a:pPr>
            <a:r>
              <a:t>WICP Panel Marker</a:t>
            </a:r>
          </a:p>
          <a:p>
            <a:pPr algn="ctr">
              <a:defRPr sz="700">
                <a:solidFill>
                  <a:srgbClr val="5F646E"/>
                </a:solidFill>
                <a:latin typeface="Arial"/>
              </a:defRPr>
            </a:pPr>
            <a:r>
              <a:t>WICP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